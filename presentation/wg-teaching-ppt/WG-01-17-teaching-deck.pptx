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× LLM × 記憶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403152"/>
            <a:ext cx="37151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Python 基礎到會記憶的 AI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2469952"/>
            <a:ext cx="371511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17 個挑戰，把一支小程式慢慢長成像助手一樣的系統。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3098602"/>
            <a:ext cx="622250" cy="431602"/>
          </a:xfrm>
          <a:prstGeom prst="roundRect">
            <a:avLst>
              <a:gd name="adj" fmla="val 2939583"/>
            </a:avLst>
          </a:prstGeom>
          <a:solidFill>
            <a:srgbClr val="EAF5FF"/>
          </a:solidFill>
          <a:ln w="19050">
            <a:solidFill>
              <a:srgbClr val="C9DF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3219152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4751" y="3098602"/>
            <a:ext cx="622250" cy="431602"/>
          </a:xfrm>
          <a:prstGeom prst="roundRect">
            <a:avLst>
              <a:gd name="adj" fmla="val 2939583"/>
            </a:avLst>
          </a:prstGeom>
          <a:solidFill>
            <a:srgbClr val="EAF5FF"/>
          </a:solidFill>
          <a:ln w="19050">
            <a:solidFill>
              <a:srgbClr val="C9DF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6201" y="3219152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502" y="3098602"/>
            <a:ext cx="622250" cy="431602"/>
          </a:xfrm>
          <a:prstGeom prst="roundRect">
            <a:avLst>
              <a:gd name="adj" fmla="val 2939583"/>
            </a:avLst>
          </a:prstGeom>
          <a:solidFill>
            <a:srgbClr val="EAF5FF"/>
          </a:solidFill>
          <a:ln w="19050">
            <a:solidFill>
              <a:srgbClr val="C9DF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99952" y="3219152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52254" y="3098602"/>
            <a:ext cx="622250" cy="431602"/>
          </a:xfrm>
          <a:prstGeom prst="roundRect">
            <a:avLst>
              <a:gd name="adj" fmla="val 2939583"/>
            </a:avLst>
          </a:prstGeom>
          <a:solidFill>
            <a:srgbClr val="EAF5FF"/>
          </a:solidFill>
          <a:ln w="19050">
            <a:solidFill>
              <a:srgbClr val="C9DF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23704" y="3219152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6005" y="3098602"/>
            <a:ext cx="622250" cy="431602"/>
          </a:xfrm>
          <a:prstGeom prst="roundRect">
            <a:avLst>
              <a:gd name="adj" fmla="val 2939583"/>
            </a:avLst>
          </a:prstGeom>
          <a:solidFill>
            <a:srgbClr val="EAF5FF"/>
          </a:solidFill>
          <a:ln w="19050">
            <a:solidFill>
              <a:srgbClr val="C9DF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47455" y="3219152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1000" y="3682603"/>
            <a:ext cx="371511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2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目標不是背語法，而是看懂一個 Agent 的能力，怎麼一層一層被加上去。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02621" y="833438"/>
            <a:ext cx="4460379" cy="3810000"/>
          </a:xfrm>
          <a:prstGeom prst="roundRect">
            <a:avLst>
              <a:gd name="adj" fmla="val 8000"/>
            </a:avLst>
          </a:prstGeom>
          <a:solidFill>
            <a:srgbClr val="E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29571" y="1404938"/>
            <a:ext cx="2357438" cy="2667000"/>
          </a:xfrm>
          <a:prstGeom prst="roundRect">
            <a:avLst>
              <a:gd name="adj" fmla="val 10774"/>
            </a:avLst>
          </a:prstGeom>
          <a:solidFill>
            <a:srgbClr val="173C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32722" y="1608088"/>
            <a:ext cx="19901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E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終端機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32722" y="2169914"/>
            <a:ext cx="1951137" cy="720030"/>
          </a:xfrm>
          <a:prstGeom prst="roundRect">
            <a:avLst>
              <a:gd name="adj" fmla="val 31749"/>
            </a:avLst>
          </a:prstGeom>
          <a:solidFill>
            <a:srgbClr val="EAF8F5"/>
          </a:solidFill>
          <a:ln w="19050">
            <a:solidFill>
              <a:srgbClr val="8EE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4172" y="2341364"/>
            <a:ext cx="1640401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程式開始輸出、互動、存記憶。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2722" y="3016895"/>
            <a:ext cx="1951137" cy="908596"/>
          </a:xfrm>
          <a:prstGeom prst="roundRect">
            <a:avLst>
              <a:gd name="adj" fmla="val 25160"/>
            </a:avLst>
          </a:prstGeom>
          <a:solidFill>
            <a:srgbClr val="EAF2FF"/>
          </a:solidFill>
          <a:ln w="19050">
            <a:solidFill>
              <a:srgbClr val="A8CC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4172" y="3188345"/>
            <a:ext cx="1640401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聊天、工具、JSONL、Long-term Memory 一步一步加上去。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39409" y="1404938"/>
            <a:ext cx="1696641" cy="2667000"/>
          </a:xfrm>
          <a:prstGeom prst="roundRect">
            <a:avLst>
              <a:gd name="adj" fmla="val 14971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54329" y="1900238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1FC8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09880" y="2228850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07300" y="3119438"/>
            <a:ext cx="1160859" cy="152400"/>
          </a:xfrm>
          <a:prstGeom prst="roundRect">
            <a:avLst>
              <a:gd name="adj" fmla="val 50000"/>
            </a:avLst>
          </a:prstGeom>
          <a:solidFill>
            <a:srgbClr val="173C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73094" y="3424238"/>
            <a:ext cx="829270" cy="152400"/>
          </a:xfrm>
          <a:prstGeom prst="roundRect">
            <a:avLst>
              <a:gd name="adj" fmla="val 50000"/>
            </a:avLst>
          </a:prstGeom>
          <a:solidFill>
            <a:srgbClr val="8DBE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學習地圖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63476"/>
            <a:ext cx="85496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今天會走過哪 7 段升級路線？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212056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先看全圖，再進每一題，學生比較容易知道自己現在走到哪裡。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1678781"/>
            <a:ext cx="2000250" cy="1092101"/>
          </a:xfrm>
          <a:prstGeom prst="roundRect">
            <a:avLst>
              <a:gd name="adj" fmla="val 20932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185023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C8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006" y="1908274"/>
            <a:ext cx="7924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2450" y="2410867"/>
            <a:ext cx="169049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先讓程式說第一句話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08200" y="1678781"/>
            <a:ext cx="2000250" cy="1092101"/>
          </a:xfrm>
          <a:prstGeom prst="roundRect">
            <a:avLst>
              <a:gd name="adj" fmla="val 20932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79650" y="185023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C8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93206" y="1908274"/>
            <a:ext cx="7924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9650" y="2410867"/>
            <a:ext cx="169049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 Agent 備好套件和設定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35401" y="1678781"/>
            <a:ext cx="2000250" cy="1092101"/>
          </a:xfrm>
          <a:prstGeom prst="roundRect">
            <a:avLst>
              <a:gd name="adj" fmla="val 20932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6851" y="185023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C8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20407" y="1908274"/>
            <a:ext cx="7924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6851" y="2410867"/>
            <a:ext cx="169049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把流程收進 main()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2601" y="1678781"/>
            <a:ext cx="2000399" cy="1092101"/>
          </a:xfrm>
          <a:prstGeom prst="roundRect">
            <a:avLst>
              <a:gd name="adj" fmla="val 20932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34051" y="185023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C8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47607" y="1908274"/>
            <a:ext cx="7924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34051" y="2410867"/>
            <a:ext cx="169064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開始和大模型聊天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1000" y="2897832"/>
            <a:ext cx="2000250" cy="1092101"/>
          </a:xfrm>
          <a:prstGeom prst="roundRect">
            <a:avLst>
              <a:gd name="adj" fmla="val 20932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2450" y="306928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C8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6006" y="3127325"/>
            <a:ext cx="7924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2450" y="3629918"/>
            <a:ext cx="169049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讓它記得上一輪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08200" y="2897832"/>
            <a:ext cx="2000250" cy="1092101"/>
          </a:xfrm>
          <a:prstGeom prst="roundRect">
            <a:avLst>
              <a:gd name="adj" fmla="val 20932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79650" y="306928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C8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93206" y="3127325"/>
            <a:ext cx="7924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79650" y="3629918"/>
            <a:ext cx="169049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把對話存進檔案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35401" y="2897832"/>
            <a:ext cx="2000250" cy="1092101"/>
          </a:xfrm>
          <a:prstGeom prst="roundRect">
            <a:avLst>
              <a:gd name="adj" fmla="val 20932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6851" y="306928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FC8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20407" y="3127325"/>
            <a:ext cx="7924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6851" y="3629918"/>
            <a:ext cx="169049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對話太長時學會整理記憶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679972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按下啟動鍵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029123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先讓 Python 在正確的時機說第一句話。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267248"/>
            <a:ext cx="3832175" cy="15010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`print()` 可以把文字送到終端機。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`if __name__ == "__main__"` 代表只有直接執行這個檔案時才跑。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這樣做的好處是：被別的檔案 `import` 時，不會自己亂執行。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WG-02～WG-03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813917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字串先有名字，再組成一句話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163068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從單純印字，到用變數和 f-string 組句。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401193"/>
            <a:ext cx="3832175" cy="126176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變數像幫資料貼標籤，之後可以重複拿來用。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 可以把變數直接塞進句子裡。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如果先後順序寫錯，後面的句子就找不到前面的變數。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50888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402556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799630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把工具裝進專案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148780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先把未來要用的套件安裝好，再在檔案頂端匯入。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386905"/>
            <a:ext cx="3832175" cy="126176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`uv add` 是把套件加進這個專案。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`import` / `from ... import ...` 是在程式裡把名稱拿進來。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這一題先備料，還不急著真的打 API。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799630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讀設定，但不把金鑰秀出來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148780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會讀 `.env` 很重要，會保護敏感資訊更重要。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386905"/>
            <a:ext cx="3832175" cy="126176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`load_dotenv()` 先把 `.env` 的資料載進環境。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`os.getenv()` 再把指定變數讀出來。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螢幕上只能顯示有 / 無，不要把整串金鑰印出來。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WG-06～WG-07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813917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有鑰匙才往下走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163068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用分支決定流程，再把主流程收進 `main()`。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401193"/>
            <a:ext cx="3832175" cy="126176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`if / else` 讓程式能根據條件走不同路。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 API key 時，應該提早停下來，而不是硬往下跑。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`main()` 讓入口和主要流程分開，結構更清楚。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50888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402556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WG-08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799630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第一通打進大模型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148780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第一次從本機程式把一句話送到模型，再拿回回覆。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386905"/>
            <a:ext cx="3832175" cy="126176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`ChatOpenAI(...)` 是建立模型連線物件。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`invoke(...)` 代表送出一次請求。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回來的不是普通字串，所以通常要用 `.content` 拿文字。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WG-09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919288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把一次問答變成聊天迴圈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268438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不再只問一次，而是可以持續對話到你說停。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506563"/>
            <a:ext cx="3832175" cy="102244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`while True` 可以讓聊天一直重複。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`input()` 讓使用者每輪都能打新問題。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`quit / exit / q` 這類指令可以安全結束聊天。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505396"/>
            <a:ext cx="3908819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`invoke` 和 `stream`，體感差在哪？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203698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同樣都能拿到答案，但使用者感覺很不一樣。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441823"/>
            <a:ext cx="3832175" cy="15010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`invoke` 等整段答案完成後，一次全部拿回來。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`stream` 答案一小塊一小塊回來，像打字機一樣。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串流輸出要搭配 `print(..., end="", flush=True)` 才會看到效果。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63476"/>
            <a:ext cx="85496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 10 題，我們做到了什麼？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212056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從只會印一句話，到能真的和模型來回聊天。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1602581"/>
            <a:ext cx="2692450" cy="3210818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7751" y="1799332"/>
            <a:ext cx="23449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起點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7751" y="2138958"/>
            <a:ext cx="2298948" cy="9394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`print()` 輸出文字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 `__main__` 的作用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用變數和 f-string 組句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25850" y="1602581"/>
            <a:ext cx="2692301" cy="321081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2600" y="1799332"/>
            <a:ext cx="23447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2600" y="2138958"/>
            <a:ext cx="2298799" cy="9394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`uv add` 安裝套件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`.env` 安全讀設定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`main()` 把流程收乾淨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70550" y="1602581"/>
            <a:ext cx="2692450" cy="3210818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7301" y="1799332"/>
            <a:ext cx="23449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7301" y="2138958"/>
            <a:ext cx="2298948" cy="9394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 `invoke`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`while` 做聊天迴圈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改成 `stream` 做即時輸出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679972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把上一輪也帶進下一輪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029123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聊天之所以像聊天，是因為模型看得到前情提要。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267248"/>
            <a:ext cx="3832175" cy="15010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`messages` 是放在 RAM 裡的對話時間軸。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裡面不只放使用者，也要放助手，不然脈絡會斷掉。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這時候記憶還沒寫進檔案，所以關程式就會消失。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WG-11 圖解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464766"/>
            <a:ext cx="3908819" cy="104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為什麼要先組 `context_messages`，再 append？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512219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送模串列和真正累積的歷史，不是同一件事。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750344"/>
            <a:ext cx="3832175" cy="126176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送進模型的是本輪要看的完整上下文。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真正累積在 `messages` 裡的是已經完成的回合。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先組、再 append，才不會把未完成的回合提早寫進歷史。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50888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38526" y="1729234"/>
            <a:ext cx="3927723" cy="480566"/>
          </a:xfrm>
          <a:prstGeom prst="roundRect">
            <a:avLst>
              <a:gd name="adj" fmla="val 42283"/>
            </a:avLst>
          </a:prstGeom>
          <a:solidFill>
            <a:srgbClr val="EAF2FF"/>
          </a:solidFill>
          <a:ln w="19050">
            <a:solidFill>
              <a:srgbClr val="A8CC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74128" y="1875234"/>
            <a:ext cx="365652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messages：已經完成的舊回合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38526" y="2336750"/>
            <a:ext cx="3927723" cy="480566"/>
          </a:xfrm>
          <a:prstGeom prst="roundRect">
            <a:avLst>
              <a:gd name="adj" fmla="val 42283"/>
            </a:avLst>
          </a:prstGeom>
          <a:solidFill>
            <a:srgbClr val="FFF4E0"/>
          </a:solidFill>
          <a:ln w="19050">
            <a:solidFill>
              <a:srgbClr val="FFD2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74128" y="2482751"/>
            <a:ext cx="365652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human_message：這一輪新輸入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38526" y="2944267"/>
            <a:ext cx="3927723" cy="480566"/>
          </a:xfrm>
          <a:prstGeom prst="roundRect">
            <a:avLst>
              <a:gd name="adj" fmla="val 42283"/>
            </a:avLst>
          </a:prstGeom>
          <a:solidFill>
            <a:srgbClr val="EAF8F5"/>
          </a:solidFill>
          <a:ln w="19050">
            <a:solidFill>
              <a:srgbClr val="8EE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74128" y="3090267"/>
            <a:ext cx="365652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context_messages：送進模型的完整上下文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9249" y="3551783"/>
            <a:ext cx="400627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2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先組送模串列，串流成功後再 append 進歷史。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441252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把人設放進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90402"/>
            <a:ext cx="39088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有些規則不是這一輪才說，而是每一輪都要一起帶進去。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266652"/>
            <a:ext cx="3832175" cy="17403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`SystemMessage` 是固定規則、人設、語氣的地方。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`history` 放的是對話回合，不要把 system 混在裡面。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送模時常見的組法是 `[system, *history, human]`。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560909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模型不只會想，還會用工具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910060"/>
            <a:ext cx="39088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需要計算或查資料時，模型可以自己決定要不要呼叫工具。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386310"/>
            <a:ext cx="3832175" cy="15010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`@tool` 是把 Python 函式包成可被模型呼叫的工具。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`bind_tools()` 讓模型知道有哪些工具可以用。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`tool_calls` 和 `ToolMessage` 讓『叫工具 -&gt; 拿結果 -&gt; 繼續回答』串起來。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800225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先學會把對話寫進檔案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149376"/>
            <a:ext cx="39088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聊天如果只在 RAM 裡，關掉就沒了；寫進檔案才留得住。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625626"/>
            <a:ext cx="3832175" cy="102244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可以想成一行一筆資料的文字檔。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第一行常放 metadata，後面每行放一則對話。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這一題先練寫出去，不急著一開機就讀回來。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799630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重開程式，昨天的對話還在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148780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JSONL 再讀回來，讓程式不是每次都從零開始。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386905"/>
            <a:ext cx="3832175" cy="126176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`json.loads()` 可以把每一行 JSON 讀回 Python 資料。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壞掉的行可以略過，不要讓整份檔案直接報廢。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這樣一來，關掉程式再打開，也能接著聊。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63476"/>
            <a:ext cx="85496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記憶和檔案記憶，到底差在哪？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212056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兩種都重要，只是功能不一樣。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1602581"/>
            <a:ext cx="4102150" cy="3210818"/>
          </a:xfrm>
          <a:prstGeom prst="roundRect">
            <a:avLst>
              <a:gd name="adj" fmla="val 712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7751" y="1799332"/>
            <a:ext cx="37828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記憶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7751" y="2164407"/>
            <a:ext cx="3708648" cy="96708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速度快</a:t>
            </a:r>
            <a:endParaRPr lang="en-US" sz="1200" dirty="0"/>
          </a:p>
          <a:p>
            <a:pPr algn="l" marL="114300" indent="-1143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適合本輪到下一輪的連續對話</a:t>
            </a:r>
            <a:endParaRPr lang="en-US" sz="1200" dirty="0"/>
          </a:p>
          <a:p>
            <a:pPr algn="l" marL="114300" indent="-1143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程式一關就忘了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0850" y="1602581"/>
            <a:ext cx="4102150" cy="3210818"/>
          </a:xfrm>
          <a:prstGeom prst="roundRect">
            <a:avLst>
              <a:gd name="adj" fmla="val 712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7601" y="1799332"/>
            <a:ext cx="37828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檔案記憶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57601" y="2164407"/>
            <a:ext cx="3708648" cy="96708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可以跨次執行保留</a:t>
            </a:r>
            <a:endParaRPr lang="en-US" sz="1200" dirty="0"/>
          </a:p>
          <a:p>
            <a:pPr algn="l" marL="114300" indent="-1143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 session 紀錄與載回</a:t>
            </a:r>
            <a:endParaRPr lang="en-US" sz="1200" dirty="0"/>
          </a:p>
          <a:p>
            <a:pPr algn="l" marL="114300" indent="-1143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讀寫較慢，但更耐久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799630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上下文不是無限大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148780"/>
            <a:ext cx="390881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對話越來越長時，不能什麼都塞進模型。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386905"/>
            <a:ext cx="3832175" cy="126176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`history` 是完整歷史，但送進模型的可能只是其中一段 `past`。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`TOKEN_BUDGET` 是簡化版的容量上限。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當容量不夠，就得從最舊的部分開始裁掉。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WG-16 圖解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519684"/>
            <a:ext cx="3785250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裁切不是亂砍，而是有邊界的整理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217986"/>
            <a:ext cx="3785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只從舊資料開始裁，本輪最新輸入一定要保留。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456111"/>
            <a:ext cx="3711029" cy="15010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`human_message` 一定要保留。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邊界通常選在 user-turn 開頭，避免把一段對話切碎。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 `history` 的長度，和送進模型的長度，不一定一樣。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20629" y="1150888"/>
            <a:ext cx="4442371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17380" y="1652439"/>
            <a:ext cx="751433" cy="888950"/>
          </a:xfrm>
          <a:prstGeom prst="roundRect">
            <a:avLst>
              <a:gd name="adj" fmla="val 27042"/>
            </a:avLst>
          </a:prstGeom>
          <a:solidFill>
            <a:srgbClr val="EAF2FF"/>
          </a:solidFill>
          <a:ln w="19050">
            <a:solidFill>
              <a:srgbClr val="A8CC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84745" y="1814066"/>
            <a:ext cx="41670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舊 user turn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5764" y="1652439"/>
            <a:ext cx="751284" cy="888950"/>
          </a:xfrm>
          <a:prstGeom prst="roundRect">
            <a:avLst>
              <a:gd name="adj" fmla="val 27047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63130" y="1908274"/>
            <a:ext cx="416552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舊 ai turn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73998" y="1652439"/>
            <a:ext cx="751284" cy="888950"/>
          </a:xfrm>
          <a:prstGeom prst="roundRect">
            <a:avLst>
              <a:gd name="adj" fmla="val 27047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41365" y="1814066"/>
            <a:ext cx="416552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更舊 tool turn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52233" y="1652439"/>
            <a:ext cx="1414016" cy="888950"/>
          </a:xfrm>
          <a:prstGeom prst="roundRect">
            <a:avLst>
              <a:gd name="adj" fmla="val 22858"/>
            </a:avLst>
          </a:prstGeom>
          <a:solidFill>
            <a:srgbClr val="EAF8F5"/>
          </a:solidFill>
          <a:ln w="19050">
            <a:solidFill>
              <a:srgbClr val="8EE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2972" y="1908274"/>
            <a:ext cx="1092538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 human_message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76891" y="2846189"/>
            <a:ext cx="412984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2400"/>
              </a:spcBef>
              <a:buNone/>
            </a:pPr>
            <a:r>
              <a:rPr lang="en-US" sz="1100" dirty="0">
                <a:solidFill>
                  <a:srgbClr val="52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只從舊資料開始裁，本輪最新輸入一定要保留。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680567"/>
            <a:ext cx="390881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把舊對話濃縮成長期記憶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029718"/>
            <a:ext cx="39088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短期視窗裝不下，就把舊內容整理成更短、但還有用的摘要。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505968"/>
            <a:ext cx="3832175" cy="126176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`MEMORY.md` 放濃縮後的長期重點。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`HISTORY.md` 記錄每次整併發生了什麼。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這樣模型就算沒看到完整舊對話，還是能抓到大方向。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36600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576" y="1388269"/>
            <a:ext cx="4181624" cy="26714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WG-17 圖解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400621"/>
            <a:ext cx="3908819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Memory 怎麼回到模型腦中？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2098923"/>
            <a:ext cx="39088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它不是一般聊天訊息，而是 system 背景知識的一部分。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2575173"/>
            <a:ext cx="3832175" cy="15010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長期記憶不是當一般 user / assistant 訊息塞回去。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它會被放進 system 區塊，變成模型每輪都會看到的背景知識。</a:t>
            </a:r>
            <a:endParaRPr lang="en-US" sz="1300" dirty="0"/>
          </a:p>
          <a:p>
            <a:pPr algn="l" marL="114300" indent="-114300">
              <a:lnSpc>
                <a:spcPts val="1885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這樣做比把全部舊訊息硬塞回去更省空間。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1775" y="1150888"/>
            <a:ext cx="4321225" cy="31749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38526" y="1729234"/>
            <a:ext cx="3927723" cy="480566"/>
          </a:xfrm>
          <a:prstGeom prst="roundRect">
            <a:avLst>
              <a:gd name="adj" fmla="val 42283"/>
            </a:avLst>
          </a:prstGeom>
          <a:solidFill>
            <a:srgbClr val="EAF8F5"/>
          </a:solidFill>
          <a:ln w="19050">
            <a:solidFill>
              <a:srgbClr val="8EE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74128" y="1875234"/>
            <a:ext cx="365652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課堂規則 / 人設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38526" y="2336750"/>
            <a:ext cx="3927723" cy="480566"/>
          </a:xfrm>
          <a:prstGeom prst="roundRect">
            <a:avLst>
              <a:gd name="adj" fmla="val 42283"/>
            </a:avLst>
          </a:prstGeom>
          <a:solidFill>
            <a:srgbClr val="EAF2FF"/>
          </a:solidFill>
          <a:ln w="19050">
            <a:solidFill>
              <a:srgbClr val="A8CC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74128" y="2482751"/>
            <a:ext cx="365652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Long-term Memory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38526" y="2944267"/>
            <a:ext cx="3927723" cy="480566"/>
          </a:xfrm>
          <a:prstGeom prst="roundRect">
            <a:avLst>
              <a:gd name="adj" fmla="val 42283"/>
            </a:avLst>
          </a:prstGeom>
          <a:solidFill>
            <a:srgbClr val="FFF4E0"/>
          </a:solidFill>
          <a:ln w="19050">
            <a:solidFill>
              <a:srgbClr val="FFD2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74128" y="3090267"/>
            <a:ext cx="365652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本輪使用者輸入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9249" y="3551783"/>
            <a:ext cx="400627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2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長期記憶是背景知識，不是一般 user / assistant 對話列。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總整理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63476"/>
            <a:ext cx="85496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一個小 Agent 是怎麼長大的？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212056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 17 題不是 17 個零碎技巧，而是一條完整成長路線。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949" y="1856482"/>
            <a:ext cx="1524000" cy="888950"/>
          </a:xfrm>
          <a:prstGeom prst="roundRect">
            <a:avLst>
              <a:gd name="adj" fmla="val 22858"/>
            </a:avLst>
          </a:prstGeom>
          <a:solidFill>
            <a:srgbClr val="EAF8F5"/>
          </a:solidFill>
          <a:ln w="19050">
            <a:solidFill>
              <a:srgbClr val="8EE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63013" y="2206675"/>
            <a:ext cx="569723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先會輸出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4999" y="216753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C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68650" y="1856482"/>
            <a:ext cx="1524000" cy="888950"/>
          </a:xfrm>
          <a:prstGeom prst="roundRect">
            <a:avLst>
              <a:gd name="adj" fmla="val 22858"/>
            </a:avLst>
          </a:prstGeom>
          <a:solidFill>
            <a:srgbClr val="EAF2FF"/>
          </a:solidFill>
          <a:ln w="19050">
            <a:solidFill>
              <a:srgbClr val="A8CC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45714" y="2206675"/>
            <a:ext cx="569723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再會互動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57700" y="216753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C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51350" y="1856482"/>
            <a:ext cx="1524000" cy="888950"/>
          </a:xfrm>
          <a:prstGeom prst="roundRect">
            <a:avLst>
              <a:gd name="adj" fmla="val 22858"/>
            </a:avLst>
          </a:prstGeom>
          <a:solidFill>
            <a:srgbClr val="EAF8F5"/>
          </a:solidFill>
          <a:ln w="19050">
            <a:solidFill>
              <a:srgbClr val="8EE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57217" y="2206675"/>
            <a:ext cx="712268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接著會記住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40401" y="216753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C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34051" y="1856482"/>
            <a:ext cx="1524000" cy="888950"/>
          </a:xfrm>
          <a:prstGeom prst="roundRect">
            <a:avLst>
              <a:gd name="adj" fmla="val 22858"/>
            </a:avLst>
          </a:prstGeom>
          <a:solidFill>
            <a:srgbClr val="163B6A"/>
          </a:solidFill>
          <a:ln w="19050">
            <a:solidFill>
              <a:srgbClr val="163B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26328" y="2206675"/>
            <a:ext cx="1139446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最後學會整理記憶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1000" y="4499074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608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5D7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真正的重點：你不是在學一堆零件，而是在學怎麼把它們接成一個系統。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能力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63476"/>
            <a:ext cx="85496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 17 題，其實練到哪些 Python 能力？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212056"/>
            <a:ext cx="2692301" cy="1724471"/>
          </a:xfrm>
          <a:prstGeom prst="roundRect">
            <a:avLst>
              <a:gd name="adj" fmla="val 13256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7751" y="1408807"/>
            <a:ext cx="23447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基礎資料與變數：幫資料命名、組句子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25701" y="1212056"/>
            <a:ext cx="2692450" cy="1724471"/>
          </a:xfrm>
          <a:prstGeom prst="roundRect">
            <a:avLst>
              <a:gd name="adj" fmla="val 13256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2452" y="1408807"/>
            <a:ext cx="23449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條件判斷：有 key / 沒 key 時走不同流程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70550" y="1212056"/>
            <a:ext cx="2692301" cy="1724471"/>
          </a:xfrm>
          <a:prstGeom prst="roundRect">
            <a:avLst>
              <a:gd name="adj" fmla="val 13256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67301" y="1408807"/>
            <a:ext cx="23447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迴圈：把單次問答變成持續聊天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088928"/>
            <a:ext cx="2692301" cy="1724471"/>
          </a:xfrm>
          <a:prstGeom prst="roundRect">
            <a:avLst>
              <a:gd name="adj" fmla="val 13256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7751" y="3285679"/>
            <a:ext cx="23447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函式與模組：用 `main()`、`import` 收斂結構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25701" y="3088928"/>
            <a:ext cx="2692450" cy="1724471"/>
          </a:xfrm>
          <a:prstGeom prst="roundRect">
            <a:avLst>
              <a:gd name="adj" fmla="val 13256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2452" y="3285679"/>
            <a:ext cx="23449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資料結構：`messages`、`history`、`past` 的差別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70550" y="3088928"/>
            <a:ext cx="2692301" cy="1724471"/>
          </a:xfrm>
          <a:prstGeom prst="roundRect">
            <a:avLst>
              <a:gd name="adj" fmla="val 13256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67301" y="3285679"/>
            <a:ext cx="23447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檔案與例外：寫 JSONL、讀回資料、略過壞行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課程建議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63476"/>
            <a:ext cx="85496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如果拿來上課，可以怎麼切三段？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" y="1212056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先讓學生跑得動，再讓系統聊得起來，最後讓它記得住。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1602581"/>
            <a:ext cx="2692450" cy="3210818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7751" y="1799332"/>
            <a:ext cx="23449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7751" y="2138958"/>
            <a:ext cx="234492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2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WG-01～WG-07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7751" y="2436019"/>
            <a:ext cx="2298948" cy="156567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變數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f-string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套件與設定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`main()` 結構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25850" y="1602581"/>
            <a:ext cx="2692301" cy="321081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2600" y="1799332"/>
            <a:ext cx="23447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互動段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2600" y="2138958"/>
            <a:ext cx="234477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2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WG-08～WG-13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2600" y="2436019"/>
            <a:ext cx="2298799" cy="156567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 `invoke`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聊天迴圈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串流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脈絡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/ Tool / ReAct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70550" y="1602581"/>
            <a:ext cx="2692450" cy="3210818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67301" y="1799332"/>
            <a:ext cx="23449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記憶段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7301" y="2138958"/>
            <a:ext cx="234492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2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WG-14～WG-17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7301" y="2436019"/>
            <a:ext cx="2298948" cy="125253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寫入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載回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預算裁切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長期記憶整併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30101"/>
            <a:ext cx="8549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674912"/>
            <a:ext cx="37151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下一步，讓你的 Agent 更像真的助手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2741712"/>
            <a:ext cx="371511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3E5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先把對話做對，再把記憶做好，最後才是讓它變得更聰明、更穩定。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1000" y="3370362"/>
            <a:ext cx="622250" cy="431602"/>
          </a:xfrm>
          <a:prstGeom prst="roundRect">
            <a:avLst>
              <a:gd name="adj" fmla="val 2939583"/>
            </a:avLst>
          </a:prstGeom>
          <a:solidFill>
            <a:srgbClr val="EAF5FF"/>
          </a:solidFill>
          <a:ln w="19050">
            <a:solidFill>
              <a:srgbClr val="C9DF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3490913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會說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4751" y="3370362"/>
            <a:ext cx="622250" cy="431602"/>
          </a:xfrm>
          <a:prstGeom prst="roundRect">
            <a:avLst>
              <a:gd name="adj" fmla="val 2939583"/>
            </a:avLst>
          </a:prstGeom>
          <a:solidFill>
            <a:srgbClr val="EAF5FF"/>
          </a:solidFill>
          <a:ln w="19050">
            <a:solidFill>
              <a:srgbClr val="C9DF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6201" y="3490913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502" y="3370362"/>
            <a:ext cx="622250" cy="431602"/>
          </a:xfrm>
          <a:prstGeom prst="roundRect">
            <a:avLst>
              <a:gd name="adj" fmla="val 2939583"/>
            </a:avLst>
          </a:prstGeom>
          <a:solidFill>
            <a:srgbClr val="EAF5FF"/>
          </a:solidFill>
          <a:ln w="19050">
            <a:solidFill>
              <a:srgbClr val="C9DF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99952" y="3490913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52254" y="3370362"/>
            <a:ext cx="761851" cy="431602"/>
          </a:xfrm>
          <a:prstGeom prst="roundRect">
            <a:avLst>
              <a:gd name="adj" fmla="val 2939583"/>
            </a:avLst>
          </a:prstGeom>
          <a:solidFill>
            <a:srgbClr val="EAF5FF"/>
          </a:solidFill>
          <a:ln w="19050">
            <a:solidFill>
              <a:srgbClr val="C9DF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23704" y="3490913"/>
            <a:ext cx="427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3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會整理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02621" y="833438"/>
            <a:ext cx="4460379" cy="3810000"/>
          </a:xfrm>
          <a:prstGeom prst="roundRect">
            <a:avLst>
              <a:gd name="adj" fmla="val 8000"/>
            </a:avLst>
          </a:prstGeom>
          <a:solidFill>
            <a:srgbClr val="E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29571" y="1404938"/>
            <a:ext cx="2357438" cy="2667000"/>
          </a:xfrm>
          <a:prstGeom prst="roundRect">
            <a:avLst>
              <a:gd name="adj" fmla="val 10774"/>
            </a:avLst>
          </a:prstGeom>
          <a:solidFill>
            <a:srgbClr val="173C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32722" y="1608088"/>
            <a:ext cx="19901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E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32722" y="1916013"/>
            <a:ext cx="1951137" cy="531465"/>
          </a:xfrm>
          <a:prstGeom prst="roundRect">
            <a:avLst>
              <a:gd name="adj" fmla="val 43013"/>
            </a:avLst>
          </a:prstGeom>
          <a:solidFill>
            <a:srgbClr val="EAF2FF"/>
          </a:solidFill>
          <a:ln w="19050">
            <a:solidFill>
              <a:srgbClr val="A8CC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04172" y="2087463"/>
            <a:ext cx="1640401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會說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32722" y="2574429"/>
            <a:ext cx="1951137" cy="531465"/>
          </a:xfrm>
          <a:prstGeom prst="roundRect">
            <a:avLst>
              <a:gd name="adj" fmla="val 43013"/>
            </a:avLst>
          </a:prstGeom>
          <a:solidFill>
            <a:srgbClr val="EAF8F5"/>
          </a:solidFill>
          <a:ln w="19050">
            <a:solidFill>
              <a:srgbClr val="8EE0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04172" y="2745879"/>
            <a:ext cx="1640401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會聊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32722" y="3232845"/>
            <a:ext cx="1951137" cy="531465"/>
          </a:xfrm>
          <a:prstGeom prst="roundRect">
            <a:avLst>
              <a:gd name="adj" fmla="val 43013"/>
            </a:avLst>
          </a:prstGeom>
          <a:solidFill>
            <a:srgbClr val="173C6C"/>
          </a:solidFill>
          <a:ln w="19050">
            <a:solidFill>
              <a:srgbClr val="173C6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4172" y="3404295"/>
            <a:ext cx="1640401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會記、會整理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39409" y="1404938"/>
            <a:ext cx="1696641" cy="2667000"/>
          </a:xfrm>
          <a:prstGeom prst="roundRect">
            <a:avLst>
              <a:gd name="adj" fmla="val 14971"/>
            </a:avLst>
          </a:prstGeom>
          <a:solidFill>
            <a:srgbClr val="FFFFFF"/>
          </a:solidFill>
          <a:ln w="19050">
            <a:solidFill>
              <a:srgbClr val="D5E7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54329" y="1900238"/>
            <a:ext cx="1066800" cy="1066800"/>
          </a:xfrm>
          <a:prstGeom prst="roundRect">
            <a:avLst>
              <a:gd name="adj" fmla="val 50000"/>
            </a:avLst>
          </a:prstGeom>
          <a:solidFill>
            <a:srgbClr val="1FC8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21029" y="2228850"/>
            <a:ext cx="54406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207300" y="3119438"/>
            <a:ext cx="1160859" cy="152400"/>
          </a:xfrm>
          <a:prstGeom prst="roundRect">
            <a:avLst>
              <a:gd name="adj" fmla="val 50000"/>
            </a:avLst>
          </a:prstGeom>
          <a:solidFill>
            <a:srgbClr val="173C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73094" y="3424238"/>
            <a:ext cx="829270" cy="152400"/>
          </a:xfrm>
          <a:prstGeom prst="roundRect">
            <a:avLst>
              <a:gd name="adj" fmla="val 50000"/>
            </a:avLst>
          </a:prstGeom>
          <a:solidFill>
            <a:srgbClr val="8DBE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Cursor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WG-01～WG-17 教學簡報</dc:title>
  <dc:subject>WG-01～WG-17 教學簡報</dc:subject>
  <dc:creator>Cursor</dc:creator>
  <cp:lastModifiedBy>Cursor</cp:lastModifiedBy>
  <cp:revision>1</cp:revision>
  <dcterms:created xsi:type="dcterms:W3CDTF">2026-04-20T09:59:52Z</dcterms:created>
  <dcterms:modified xsi:type="dcterms:W3CDTF">2026-04-20T09:59:52Z</dcterms:modified>
</cp:coreProperties>
</file>